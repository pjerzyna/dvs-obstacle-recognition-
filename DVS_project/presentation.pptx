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7556500" cx="134334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0">
          <p15:clr>
            <a:srgbClr val="000000"/>
          </p15:clr>
        </p15:guide>
        <p15:guide id="2" pos="4231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b2swmKk9o0lellMPnn2RCnMyz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AF7235-46AF-4CD6-BAFF-5DB01828A0C8}">
  <a:tblStyle styleId="{A8AF7235-46AF-4CD6-BAFF-5DB01828A0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0" orient="horz"/>
        <p:guide pos="423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587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382587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5038d19e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c5038d19e_0_4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c5038d19e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c5038d19e_0_8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c519dd205_18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c519dd205_18_0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5038d19e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c5038d19e_0_1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c519dd205_18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c519dd205_18_31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c519dd205_26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c519dd205_26_15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519dd205_26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c519dd205_26_58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c5038d19e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c5038d19e_0_16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c519dd205_26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c519dd205_26_43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c519dd205_18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c519dd205_18_16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c519dd205_18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c519dd205_18_61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c519dd205_18_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c519dd205_18_86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c519dd205_18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c519dd205_18_9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c519dd205_18_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c519dd205_18_98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c519dd205_18_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c519dd205_18_104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c519dd205_18_1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c519dd205_18_110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679178" y="1236678"/>
            <a:ext cx="10075069" cy="2630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1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679178" y="3968912"/>
            <a:ext cx="10075069" cy="182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sz="2644"/>
            </a:lvl1pPr>
            <a:lvl2pPr lvl="1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sz="2204"/>
            </a:lvl2pPr>
            <a:lvl3pPr lvl="2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3pPr>
            <a:lvl4pPr lvl="3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4pPr>
            <a:lvl5pPr lvl="4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 rot="5400000">
            <a:off x="7859694" y="2155915"/>
            <a:ext cx="6403784" cy="2896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 rot="5400000">
            <a:off x="1982570" y="-656708"/>
            <a:ext cx="6403784" cy="852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 rot="5400000">
            <a:off x="4319588" y="-1384301"/>
            <a:ext cx="4794250" cy="1158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925298" y="503767"/>
            <a:ext cx="4332629" cy="17631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6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/>
          <p:nvPr>
            <p:ph idx="2" type="pic"/>
          </p:nvPr>
        </p:nvSpPr>
        <p:spPr>
          <a:xfrm>
            <a:off x="5710956" y="1087996"/>
            <a:ext cx="6800671" cy="5370013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925298" y="2266950"/>
            <a:ext cx="4332629" cy="419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2"/>
              <a:buNone/>
              <a:defRPr sz="1322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925298" y="503767"/>
            <a:ext cx="4332629" cy="17631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6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5710956" y="1087996"/>
            <a:ext cx="6800671" cy="5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501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526"/>
              <a:buChar char="•"/>
              <a:defRPr sz="3526"/>
            </a:lvl1pPr>
            <a:lvl2pPr indent="-424498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3085"/>
              <a:buChar char="•"/>
              <a:defRPr sz="3085"/>
            </a:lvl2pPr>
            <a:lvl3pPr indent="-396494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44"/>
              <a:buChar char="•"/>
              <a:defRPr sz="2644"/>
            </a:lvl3pPr>
            <a:lvl4pPr indent="-368554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4pPr>
            <a:lvl5pPr indent="-368554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5pPr>
            <a:lvl6pPr indent="-368554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6pPr>
            <a:lvl7pPr indent="-368554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7pPr>
            <a:lvl8pPr indent="-368554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8pPr>
            <a:lvl9pPr indent="-368554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925298" y="2266950"/>
            <a:ext cx="4332629" cy="419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2"/>
              <a:buNone/>
              <a:defRPr sz="1322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925298" y="402314"/>
            <a:ext cx="11586329" cy="146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925298" y="1852393"/>
            <a:ext cx="5682968" cy="9078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b="1" sz="2644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b="1" sz="2204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b="1" sz="1983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925298" y="2760222"/>
            <a:ext cx="5682968" cy="405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800672" y="1852393"/>
            <a:ext cx="5710955" cy="9078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b="1" sz="2644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b="1" sz="2204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b="1" sz="1983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6800672" y="2760222"/>
            <a:ext cx="5710955" cy="405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923548" y="2011568"/>
            <a:ext cx="5709206" cy="47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6800671" y="2011568"/>
            <a:ext cx="5709206" cy="47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916551" y="1883878"/>
            <a:ext cx="11586329" cy="31432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1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916551" y="5056909"/>
            <a:ext cx="11586329" cy="1652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644"/>
              <a:buNone/>
              <a:defRPr sz="26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2204"/>
              <a:buNone/>
              <a:defRPr sz="2204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923925" y="2011362"/>
            <a:ext cx="11585575" cy="479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>
            <a:off x="923925" y="2011362"/>
            <a:ext cx="11585575" cy="479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 rot="5400000">
            <a:off x="7859694" y="2155915"/>
            <a:ext cx="6403784" cy="2896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 rot="5400000">
            <a:off x="1982570" y="-656708"/>
            <a:ext cx="6403784" cy="852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 rot="5400000">
            <a:off x="4319588" y="-1384301"/>
            <a:ext cx="4794250" cy="1158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925298" y="503767"/>
            <a:ext cx="4332629" cy="17631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6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/>
          <p:nvPr>
            <p:ph idx="2" type="pic"/>
          </p:nvPr>
        </p:nvSpPr>
        <p:spPr>
          <a:xfrm>
            <a:off x="5710956" y="1087996"/>
            <a:ext cx="6800671" cy="5370013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925298" y="2266950"/>
            <a:ext cx="4332629" cy="419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2"/>
              <a:buNone/>
              <a:defRPr sz="1322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108" name="Google Shape;108;p19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925298" y="503767"/>
            <a:ext cx="4332629" cy="17631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6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5710956" y="1087996"/>
            <a:ext cx="6800671" cy="5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501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526"/>
              <a:buChar char="•"/>
              <a:defRPr sz="3526"/>
            </a:lvl1pPr>
            <a:lvl2pPr indent="-424498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3085"/>
              <a:buChar char="•"/>
              <a:defRPr sz="3085"/>
            </a:lvl2pPr>
            <a:lvl3pPr indent="-396494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44"/>
              <a:buChar char="•"/>
              <a:defRPr sz="2644"/>
            </a:lvl3pPr>
            <a:lvl4pPr indent="-368554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4pPr>
            <a:lvl5pPr indent="-368554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5pPr>
            <a:lvl6pPr indent="-368554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6pPr>
            <a:lvl7pPr indent="-368554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7pPr>
            <a:lvl8pPr indent="-368554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8pPr>
            <a:lvl9pPr indent="-368554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9pPr>
          </a:lstStyle>
          <a:p/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925298" y="2266950"/>
            <a:ext cx="4332629" cy="419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2"/>
              <a:buNone/>
              <a:defRPr sz="1322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115" name="Google Shape;115;p20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925298" y="402314"/>
            <a:ext cx="11586329" cy="146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925298" y="1852393"/>
            <a:ext cx="5682968" cy="9078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b="1" sz="2644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b="1" sz="2204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b="1" sz="1983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9pPr>
          </a:lstStyle>
          <a:p/>
        </p:txBody>
      </p:sp>
      <p:sp>
        <p:nvSpPr>
          <p:cNvPr id="130" name="Google Shape;130;p23"/>
          <p:cNvSpPr txBox="1"/>
          <p:nvPr>
            <p:ph idx="2" type="body"/>
          </p:nvPr>
        </p:nvSpPr>
        <p:spPr>
          <a:xfrm>
            <a:off x="925298" y="2760222"/>
            <a:ext cx="5682968" cy="405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3" type="body"/>
          </p:nvPr>
        </p:nvSpPr>
        <p:spPr>
          <a:xfrm>
            <a:off x="6800672" y="1852393"/>
            <a:ext cx="5710955" cy="9078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b="1" sz="2644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b="1" sz="2204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b="1" sz="1983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9pPr>
          </a:lstStyle>
          <a:p/>
        </p:txBody>
      </p:sp>
      <p:sp>
        <p:nvSpPr>
          <p:cNvPr id="132" name="Google Shape;132;p23"/>
          <p:cNvSpPr txBox="1"/>
          <p:nvPr>
            <p:ph idx="4" type="body"/>
          </p:nvPr>
        </p:nvSpPr>
        <p:spPr>
          <a:xfrm>
            <a:off x="6800672" y="2760222"/>
            <a:ext cx="5710955" cy="405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923548" y="2011568"/>
            <a:ext cx="5709206" cy="47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6800671" y="2011568"/>
            <a:ext cx="5709206" cy="47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916551" y="1883878"/>
            <a:ext cx="11586329" cy="31432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1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916551" y="5056909"/>
            <a:ext cx="11586329" cy="1652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644"/>
              <a:buNone/>
              <a:defRPr sz="26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2204"/>
              <a:buNone/>
              <a:defRPr sz="2204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ctrTitle"/>
          </p:nvPr>
        </p:nvSpPr>
        <p:spPr>
          <a:xfrm>
            <a:off x="1679178" y="1236678"/>
            <a:ext cx="10075069" cy="2630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1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1679178" y="3968912"/>
            <a:ext cx="10075069" cy="182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sz="2644"/>
            </a:lvl1pPr>
            <a:lvl2pPr lvl="1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sz="2204"/>
            </a:lvl2pPr>
            <a:lvl3pPr lvl="2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3pPr>
            <a:lvl4pPr lvl="3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4pPr>
            <a:lvl5pPr lvl="4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9pPr>
          </a:lstStyle>
          <a:p/>
        </p:txBody>
      </p:sp>
      <p:sp>
        <p:nvSpPr>
          <p:cNvPr id="152" name="Google Shape;152;p26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923925" y="2011362"/>
            <a:ext cx="11585575" cy="479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4520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4520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4521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4521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923925" y="2011362"/>
            <a:ext cx="11585575" cy="479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4520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4520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4521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4521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5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5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5.jpg"/><Relationship Id="rId6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8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://drive.google.com/file/d/1ttD2WPQtAH3KRAtwZth-dYHfAhgUZivG/view" TargetMode="External"/><Relationship Id="rId5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2164150" y="2127450"/>
            <a:ext cx="9894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</a:rPr>
              <a:t>Dynamic Vision Sensors</a:t>
            </a:r>
            <a:endParaRPr b="1" sz="4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</a:rPr>
              <a:t>Optical Avoidance on a Raspberry Pi</a:t>
            </a:r>
            <a:endParaRPr b="1" sz="4200"/>
          </a:p>
        </p:txBody>
      </p:sp>
      <p:sp>
        <p:nvSpPr>
          <p:cNvPr id="160" name="Google Shape;160;p1"/>
          <p:cNvSpPr txBox="1"/>
          <p:nvPr/>
        </p:nvSpPr>
        <p:spPr>
          <a:xfrm>
            <a:off x="3511530" y="3512850"/>
            <a:ext cx="140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808080"/>
                </a:solidFill>
              </a:rPr>
              <a:t>17.06.2026</a:t>
            </a:r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3509950" y="3851562"/>
            <a:ext cx="61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Akademia Górniczo-Hutnicza im. Stanisława Staszica w Krakowie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AGH University of Krakow</a:t>
            </a:r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3392950" y="5950600"/>
            <a:ext cx="55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</a:rPr>
              <a:t>Paweł Jerzyna, Piotr Grzyb, Marcin Dworak</a:t>
            </a:r>
            <a:endParaRPr sz="2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5038d19e_0_4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c5038d19e_0_4"/>
          <p:cNvSpPr txBox="1"/>
          <p:nvPr/>
        </p:nvSpPr>
        <p:spPr>
          <a:xfrm>
            <a:off x="2819850" y="1207700"/>
            <a:ext cx="7793700" cy="4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Agenda</a:t>
            </a:r>
            <a:endParaRPr b="1" sz="42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Introduction &amp; Objectives</a:t>
            </a:r>
            <a:endParaRPr b="1" sz="30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Analysis of Available Solutions</a:t>
            </a:r>
            <a:endParaRPr b="1" sz="30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System Architecture &amp; </a:t>
            </a:r>
            <a:r>
              <a:rPr b="1" lang="en-US" sz="3000">
                <a:solidFill>
                  <a:srgbClr val="333333"/>
                </a:solidFill>
              </a:rPr>
              <a:t>Computational Complexity Analysis</a:t>
            </a:r>
            <a:endParaRPr b="1" sz="30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Performance Metrics</a:t>
            </a:r>
            <a:endParaRPr b="1" sz="30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Comparison with</a:t>
            </a:r>
            <a:r>
              <a:rPr b="1" lang="en-US" sz="3000">
                <a:solidFill>
                  <a:srgbClr val="333333"/>
                </a:solidFill>
              </a:rPr>
              <a:t> </a:t>
            </a:r>
            <a:r>
              <a:rPr b="1" lang="en-US" sz="3000">
                <a:solidFill>
                  <a:srgbClr val="333333"/>
                </a:solidFill>
              </a:rPr>
              <a:t>Reference Solutions</a:t>
            </a:r>
            <a:endParaRPr b="1" sz="30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Engineering Challenges &amp; Solutions</a:t>
            </a:r>
            <a:endParaRPr b="1" sz="3000">
              <a:solidFill>
                <a:srgbClr val="33333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AutoNum type="arabicPeriod"/>
            </a:pPr>
            <a:r>
              <a:rPr b="1" lang="en-US" sz="3000">
                <a:solidFill>
                  <a:srgbClr val="333333"/>
                </a:solidFill>
              </a:rPr>
              <a:t>Conclusions &amp; Future Work</a:t>
            </a:r>
            <a:endParaRPr b="1" sz="30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c5038d19e_0_8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ec5038d19e_0_8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ec5038d19e_0_8"/>
          <p:cNvSpPr txBox="1"/>
          <p:nvPr/>
        </p:nvSpPr>
        <p:spPr>
          <a:xfrm>
            <a:off x="443200" y="1207325"/>
            <a:ext cx="894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1. Introduction &amp; Objectives</a:t>
            </a:r>
            <a:endParaRPr b="1" sz="3000">
              <a:solidFill>
                <a:srgbClr val="333333"/>
              </a:solidFill>
            </a:endParaRPr>
          </a:p>
        </p:txBody>
      </p:sp>
      <p:sp>
        <p:nvSpPr>
          <p:cNvPr id="176" name="Google Shape;176;g3ec5038d19e_0_8"/>
          <p:cNvSpPr txBox="1"/>
          <p:nvPr/>
        </p:nvSpPr>
        <p:spPr>
          <a:xfrm>
            <a:off x="1000650" y="2601300"/>
            <a:ext cx="5612400" cy="3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Our objective is to prototype a real-time collision avoidance system for autonomous drones. While the ultimate target platform is an airborne UAV, the current implementation focuses on a standalone setup. Our hardware stack features a Raspberry Pi 5 paired with a Prophesee GenX320 neuromorphic event camera.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g3ec5038d19e_0_8"/>
          <p:cNvGrpSpPr/>
          <p:nvPr/>
        </p:nvGrpSpPr>
        <p:grpSpPr>
          <a:xfrm>
            <a:off x="7392150" y="2447663"/>
            <a:ext cx="2983901" cy="3086887"/>
            <a:chOff x="7392150" y="2447663"/>
            <a:chExt cx="2983901" cy="3086887"/>
          </a:xfrm>
        </p:grpSpPr>
        <p:pic>
          <p:nvPicPr>
            <p:cNvPr id="178" name="Google Shape;178;g3ec5038d19e_0_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741815">
              <a:off x="7469517" y="4322468"/>
              <a:ext cx="2324868" cy="974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ne with wifi and camera line icon vector illustration (Dostarczone przez Getty Images)" id="179" name="Google Shape;179;g3ec5038d19e_0_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32113">
              <a:off x="7955175" y="2717613"/>
              <a:ext cx="2150926" cy="21509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occer ball vector icon flat style illustration for web, mobile, , application and graphic design. (Dostarczone przez Getty Images)" id="180" name="Google Shape;180;g3ec5038d19e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9387427">
            <a:off x="10392398" y="3358973"/>
            <a:ext cx="2242077" cy="224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519dd205_18_0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ec519dd205_18_0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c519dd205_18_0"/>
          <p:cNvSpPr txBox="1"/>
          <p:nvPr/>
        </p:nvSpPr>
        <p:spPr>
          <a:xfrm>
            <a:off x="443200" y="1207325"/>
            <a:ext cx="1202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2</a:t>
            </a:r>
            <a:r>
              <a:rPr b="1" lang="en-US" sz="4200">
                <a:solidFill>
                  <a:srgbClr val="333333"/>
                </a:solidFill>
              </a:rPr>
              <a:t>.1 Analysis of Available Solutions</a:t>
            </a:r>
            <a:endParaRPr b="1" sz="3000">
              <a:solidFill>
                <a:srgbClr val="333333"/>
              </a:solidFill>
            </a:endParaRPr>
          </a:p>
        </p:txBody>
      </p:sp>
      <p:sp>
        <p:nvSpPr>
          <p:cNvPr id="188" name="Google Shape;188;g3ec519dd205_18_0"/>
          <p:cNvSpPr txBox="1"/>
          <p:nvPr/>
        </p:nvSpPr>
        <p:spPr>
          <a:xfrm>
            <a:off x="1002400" y="2491625"/>
            <a:ext cx="35379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c519dd205_18_0"/>
          <p:cNvSpPr txBox="1"/>
          <p:nvPr/>
        </p:nvSpPr>
        <p:spPr>
          <a:xfrm>
            <a:off x="662175" y="2271950"/>
            <a:ext cx="12371400" cy="4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optical avoidance on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RPi 5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demands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lightweight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which eliminates most common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solution, such as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Maximization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(CM) - although very precise, it requires too much computational power.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Neural Networks (DNN) - classification of the incoming object is not a priority, hardware limitations.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Simultaneous Localization and Mapping (SLAM) - Raspberry Pi 5 lacks required computational power.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main objective was to implement a system that would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drone about an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incoming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obstacle while maintaining  compact build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minimal latency.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5038d19e_0_12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ec5038d19e_0_12"/>
          <p:cNvSpPr txBox="1"/>
          <p:nvPr/>
        </p:nvSpPr>
        <p:spPr>
          <a:xfrm>
            <a:off x="340175" y="1258675"/>
            <a:ext cx="1326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rgbClr val="333333"/>
                </a:solidFill>
              </a:rPr>
              <a:t>2.2 Proposed Methodology </a:t>
            </a:r>
            <a:endParaRPr/>
          </a:p>
        </p:txBody>
      </p:sp>
      <p:sp>
        <p:nvSpPr>
          <p:cNvPr id="196" name="Google Shape;196;g3ec5038d19e_0_12"/>
          <p:cNvSpPr txBox="1"/>
          <p:nvPr/>
        </p:nvSpPr>
        <p:spPr>
          <a:xfrm>
            <a:off x="537475" y="2276175"/>
            <a:ext cx="123597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final solution is a “bio-inspired”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algorithm, based on the way in which flying insects’ escape reflex is activated: because of their highly constrained nervous systems, incapable of calculating metric depth, they rely on looming detection - an automated reflex triggered by the radial optical expansion of an object's edges on the retina.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DVS sensor acts as a digital retina, capturing asynchronous spatiotemporal edges.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then extract the boundary coordinates of these active edge events via vectorized SIMD loops to compute a dynamic 2D Bounding Box.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we assess the threat level by dividing the current bounding box area by its discrete derivative (expansion rate), effectively utilizing the Time-to-Collision metric.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519dd205_18_31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ec519dd205_18_31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ec519dd205_18_31"/>
          <p:cNvSpPr txBox="1"/>
          <p:nvPr/>
        </p:nvSpPr>
        <p:spPr>
          <a:xfrm>
            <a:off x="443200" y="12073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3.1 High-Level </a:t>
            </a:r>
            <a:r>
              <a:rPr b="1" lang="en-US" sz="4200">
                <a:solidFill>
                  <a:srgbClr val="333333"/>
                </a:solidFill>
              </a:rPr>
              <a:t>Architecture</a:t>
            </a:r>
            <a:r>
              <a:rPr b="1" lang="en-US" sz="4200">
                <a:solidFill>
                  <a:srgbClr val="333333"/>
                </a:solidFill>
              </a:rPr>
              <a:t> Overview</a:t>
            </a:r>
            <a:endParaRPr b="1" sz="4200">
              <a:solidFill>
                <a:srgbClr val="333333"/>
              </a:solidFill>
            </a:endParaRPr>
          </a:p>
        </p:txBody>
      </p:sp>
      <p:pic>
        <p:nvPicPr>
          <p:cNvPr id="204" name="Google Shape;204;g3ec519dd205_18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4738" y="2038626"/>
            <a:ext cx="10963982" cy="45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c519dd205_26_15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g3ec519dd205_26_15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ec519dd205_26_15"/>
          <p:cNvSpPr txBox="1"/>
          <p:nvPr/>
        </p:nvSpPr>
        <p:spPr>
          <a:xfrm>
            <a:off x="443200" y="1207325"/>
            <a:ext cx="124071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rgbClr val="333333"/>
                </a:solidFill>
              </a:rPr>
              <a:t>3.2 </a:t>
            </a:r>
            <a:r>
              <a:rPr b="1" lang="en-US" sz="4200">
                <a:solidFill>
                  <a:srgbClr val="333333"/>
                </a:solidFill>
              </a:rPr>
              <a:t>Spatial-Time filtering</a:t>
            </a:r>
            <a:endParaRPr b="1" sz="4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212" name="Google Shape;212;g3ec519dd205_26_15"/>
          <p:cNvSpPr txBox="1"/>
          <p:nvPr/>
        </p:nvSpPr>
        <p:spPr>
          <a:xfrm>
            <a:off x="593600" y="2204575"/>
            <a:ext cx="12515400" cy="41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Incoming events are pushed into a circular buffer (</a:t>
            </a:r>
            <a:r>
              <a:rPr lang="en-US" sz="16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temporal_buffer_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 events older than </a:t>
            </a:r>
            <a:r>
              <a:rPr lang="en-US" sz="16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TEMPORAL_WINDOW_US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automatically discarded.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localized occupancy grid (</a:t>
            </a:r>
            <a:r>
              <a:rPr lang="en-US" sz="16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event_map_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tracks spatial activity. It is a simple                 index matrix, minimizing memory usage.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event, the algorithm evaluates its immediate spatial correlation: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just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sum of active neighbors falls below the </a:t>
            </a:r>
            <a:r>
              <a:rPr lang="en-US" sz="16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MIN_NEIGHBORS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threshold, the event is dropped as random thermal noise.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3ec519dd205_26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4700" y="4037588"/>
            <a:ext cx="8333025" cy="5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ec519dd205_26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7575" y="3114425"/>
            <a:ext cx="767175" cy="2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ec519dd205_26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03798" y="3982827"/>
            <a:ext cx="449778" cy="5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c519dd205_26_58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ec519dd205_26_58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ec519dd205_26_58"/>
          <p:cNvSpPr txBox="1"/>
          <p:nvPr/>
        </p:nvSpPr>
        <p:spPr>
          <a:xfrm>
            <a:off x="443200" y="12073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3.3 </a:t>
            </a:r>
            <a:r>
              <a:rPr b="1" lang="en-US" sz="4200">
                <a:solidFill>
                  <a:srgbClr val="333333"/>
                </a:solidFill>
              </a:rPr>
              <a:t>Tracking and Geometrical Analysis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223" name="Google Shape;223;g3ec519dd205_26_58"/>
          <p:cNvSpPr txBox="1"/>
          <p:nvPr/>
        </p:nvSpPr>
        <p:spPr>
          <a:xfrm>
            <a:off x="1014275" y="1207325"/>
            <a:ext cx="11832300" cy="43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sensor's field of view is rigidly divided horizontally into three distinct zones: Left, Central, and Right.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from the current time slice are mapped to these respective zones, and the sector displaying the highest activity (the maximum event count) is selected as the dominant one.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dominant sector, the center of mass and the spatial boundary extremes are calculated, generating an enclosing bounding box.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comparing the current centroid position with the previous one, the system determines the displacement vector (dx, dy) and assigns a direction of motion for the obstacle relative to the robot.</a:t>
            </a:r>
            <a:endParaRPr b="1"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g3ec519dd205_26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8252" y="4559175"/>
            <a:ext cx="8596924" cy="22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ec519dd205_26_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03800" y="5013763"/>
            <a:ext cx="4095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ec519dd205_26_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03788" y="6172378"/>
            <a:ext cx="551089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5038d19e_0_16"/>
          <p:cNvSpPr txBox="1"/>
          <p:nvPr/>
        </p:nvSpPr>
        <p:spPr>
          <a:xfrm>
            <a:off x="2468562" y="7018337"/>
            <a:ext cx="1800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c5038d19e_0_16"/>
          <p:cNvSpPr txBox="1"/>
          <p:nvPr/>
        </p:nvSpPr>
        <p:spPr>
          <a:xfrm>
            <a:off x="294825" y="1258675"/>
            <a:ext cx="1267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3.4</a:t>
            </a:r>
            <a:r>
              <a:rPr b="1" lang="en-US" sz="4200">
                <a:solidFill>
                  <a:srgbClr val="333333"/>
                </a:solidFill>
              </a:rPr>
              <a:t> </a:t>
            </a:r>
            <a:r>
              <a:rPr b="1" lang="en-US" sz="4200">
                <a:solidFill>
                  <a:srgbClr val="333333"/>
                </a:solidFill>
              </a:rPr>
              <a:t>Collision Detection  </a:t>
            </a:r>
            <a:r>
              <a:rPr b="1" lang="en-US" sz="4200">
                <a:solidFill>
                  <a:srgbClr val="333333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g3ec5038d19e_0_16"/>
          <p:cNvSpPr txBox="1"/>
          <p:nvPr/>
        </p:nvSpPr>
        <p:spPr>
          <a:xfrm>
            <a:off x="390075" y="2128750"/>
            <a:ext cx="121785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Time-to-Collision (TTC) represents the number of algorithmic steps remaining until the object's surface area approaches infinity, representing the point of impact on the sensor.  For a tracked obstacle in a dominant sector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computed directly from the discrete surface expansion of its bounding box: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ec5038d19e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859" y="3324025"/>
            <a:ext cx="6992690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ec5038d19e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5875" y="4155325"/>
            <a:ext cx="63341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ec5038d19e_0_16"/>
          <p:cNvPicPr preferRelativeResize="0"/>
          <p:nvPr/>
        </p:nvPicPr>
        <p:blipFill rotWithShape="1">
          <a:blip r:embed="rId5">
            <a:alphaModFix/>
          </a:blip>
          <a:srcRect b="0" l="0" r="39394" t="0"/>
          <a:stretch/>
        </p:blipFill>
        <p:spPr>
          <a:xfrm>
            <a:off x="3862900" y="6013125"/>
            <a:ext cx="4560075" cy="4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ec5038d19e_0_16"/>
          <p:cNvSpPr txBox="1"/>
          <p:nvPr/>
        </p:nvSpPr>
        <p:spPr>
          <a:xfrm>
            <a:off x="390075" y="6517075"/>
            <a:ext cx="121785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TTC calculation presents only O(1) (constant time) computational efficiency per Time Slice.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ec5038d19e_0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20700" y="3444800"/>
            <a:ext cx="568306" cy="4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ec5038d19e_0_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0592" y="3556575"/>
            <a:ext cx="258258" cy="3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ec5038d19e_0_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94675" y="3520263"/>
            <a:ext cx="10287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ec5038d19e_0_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73499" y="3403025"/>
            <a:ext cx="413374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c519dd205_26_43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ec519dd205_26_43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c519dd205_26_43"/>
          <p:cNvSpPr txBox="1"/>
          <p:nvPr/>
        </p:nvSpPr>
        <p:spPr>
          <a:xfrm>
            <a:off x="443200" y="1078250"/>
            <a:ext cx="1232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3.5</a:t>
            </a:r>
            <a:r>
              <a:rPr b="1" lang="en-US" sz="4200">
                <a:solidFill>
                  <a:srgbClr val="333333"/>
                </a:solidFill>
              </a:rPr>
              <a:t> Kinematic TTC Estimation and Alerting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249" name="Google Shape;249;g3ec519dd205_26_43"/>
          <p:cNvSpPr txBox="1"/>
          <p:nvPr/>
        </p:nvSpPr>
        <p:spPr>
          <a:xfrm>
            <a:off x="114475" y="1909550"/>
            <a:ext cx="132045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Net area growth ∆A over the oldest sample in the window is divided by the elapsed time ∆t to obtain a growth rate. 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collision-relevant expansion is confirmed only when growth rate≥ 1500 and the relative growth ∆A/A ≥ 25%.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When expansion is confirmed TTC is smoothed via exponential moving average. When no valid track is present, previously stored TTC values decay gracefully rather than persisting stale warnings.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3ec519dd205_26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138" y="4968150"/>
            <a:ext cx="48672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ec519dd205_26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0363" y="6150800"/>
            <a:ext cx="1409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ec519dd205_26_43"/>
          <p:cNvSpPr txBox="1"/>
          <p:nvPr/>
        </p:nvSpPr>
        <p:spPr>
          <a:xfrm>
            <a:off x="8792575" y="6091388"/>
            <a:ext cx="9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c519dd205_26_43"/>
          <p:cNvSpPr txBox="1"/>
          <p:nvPr/>
        </p:nvSpPr>
        <p:spPr>
          <a:xfrm>
            <a:off x="114475" y="3698350"/>
            <a:ext cx="116682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danger flag is raised when the smoothed TTC of the actively expanding sector drops below tau: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g3ec519dd205_26_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15200" y="4509713"/>
            <a:ext cx="43910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ec519dd205_26_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10738" y="3903863"/>
            <a:ext cx="16573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ec519dd205_26_43" title="Screenshot from 2026-06-17 08-58-35.png"/>
          <p:cNvPicPr preferRelativeResize="0"/>
          <p:nvPr/>
        </p:nvPicPr>
        <p:blipFill rotWithShape="1">
          <a:blip r:embed="rId8">
            <a:alphaModFix/>
          </a:blip>
          <a:srcRect b="33617" l="0" r="2610" t="34562"/>
          <a:stretch/>
        </p:blipFill>
        <p:spPr>
          <a:xfrm>
            <a:off x="380800" y="4847738"/>
            <a:ext cx="7341850" cy="1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ec519dd205_26_43"/>
          <p:cNvSpPr txBox="1"/>
          <p:nvPr/>
        </p:nvSpPr>
        <p:spPr>
          <a:xfrm>
            <a:off x="46950" y="3728863"/>
            <a:ext cx="12492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decision engine formats a sector specific which is shown below.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ec519dd205_26_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420108" y="4564983"/>
            <a:ext cx="554850" cy="5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ec519dd205_26_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93850" y="5297764"/>
            <a:ext cx="554850" cy="419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c519dd205_18_16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ec519dd205_18_16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ec519dd205_18_16"/>
          <p:cNvSpPr txBox="1"/>
          <p:nvPr/>
        </p:nvSpPr>
        <p:spPr>
          <a:xfrm>
            <a:off x="472825" y="10060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3.1</a:t>
            </a:r>
            <a:r>
              <a:rPr b="1" lang="en-US" sz="4200">
                <a:solidFill>
                  <a:srgbClr val="333333"/>
                </a:solidFill>
              </a:rPr>
              <a:t> </a:t>
            </a:r>
            <a:r>
              <a:rPr b="1" lang="en-US" sz="4200">
                <a:solidFill>
                  <a:srgbClr val="333333"/>
                </a:solidFill>
              </a:rPr>
              <a:t>System Architecture &amp; Preparation</a:t>
            </a:r>
            <a:endParaRPr b="1" sz="4200">
              <a:solidFill>
                <a:srgbClr val="333333"/>
              </a:solidFill>
            </a:endParaRPr>
          </a:p>
        </p:txBody>
      </p:sp>
      <p:pic>
        <p:nvPicPr>
          <p:cNvPr id="267" name="Google Shape;267;g3ec519dd205_18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0125" y="2557002"/>
            <a:ext cx="4948250" cy="369747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ec519dd205_18_16"/>
          <p:cNvSpPr txBox="1"/>
          <p:nvPr/>
        </p:nvSpPr>
        <p:spPr>
          <a:xfrm>
            <a:off x="539200" y="1686875"/>
            <a:ext cx="7801800" cy="18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While a live video stream is currently unavailable due to data pipeline and VNC/SSH connectivity bottlenecks, our core detection system remains functional. The algorithm processes the event camera data in real time and provides critical obstacle alerts directly via the terminal output.</a:t>
            </a:r>
            <a:endParaRPr sz="2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ec519dd205_18_16" title="terminal_na_zywo.png"/>
          <p:cNvPicPr preferRelativeResize="0"/>
          <p:nvPr/>
        </p:nvPicPr>
        <p:blipFill rotWithShape="1">
          <a:blip r:embed="rId5">
            <a:alphaModFix/>
          </a:blip>
          <a:srcRect b="7131" l="16432" r="13555" t="11369"/>
          <a:stretch/>
        </p:blipFill>
        <p:spPr>
          <a:xfrm>
            <a:off x="1857350" y="3578075"/>
            <a:ext cx="4948248" cy="324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c519dd205_18_61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ec519dd205_18_61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ec519dd205_18_61"/>
          <p:cNvSpPr txBox="1"/>
          <p:nvPr/>
        </p:nvSpPr>
        <p:spPr>
          <a:xfrm>
            <a:off x="472825" y="10060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3.2 Video Demonstrators</a:t>
            </a:r>
            <a:endParaRPr b="1" sz="4200">
              <a:solidFill>
                <a:srgbClr val="333333"/>
              </a:solidFill>
            </a:endParaRPr>
          </a:p>
        </p:txBody>
      </p:sp>
      <p:pic>
        <p:nvPicPr>
          <p:cNvPr id="277" name="Google Shape;277;g3ec519dd205_18_61" title="2-demonstrato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25" y="1931525"/>
            <a:ext cx="8626550" cy="48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ec519dd205_18_61"/>
          <p:cNvSpPr txBox="1"/>
          <p:nvPr/>
        </p:nvSpPr>
        <p:spPr>
          <a:xfrm>
            <a:off x="9384275" y="2806200"/>
            <a:ext cx="39357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 testing and validation purposes, we developed a dedicated visualization companion tool to project the pre-recorded event data stream along with the generated 2D Bounding Boxes and dynamic TTC alerts. </a:t>
            </a:r>
            <a:endParaRPr sz="2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c519dd205_18_86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g3ec519dd205_18_86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ec519dd205_18_86"/>
          <p:cNvSpPr txBox="1"/>
          <p:nvPr/>
        </p:nvSpPr>
        <p:spPr>
          <a:xfrm>
            <a:off x="443200" y="12073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4.</a:t>
            </a:r>
            <a:r>
              <a:rPr b="1" lang="en-US" sz="4200">
                <a:solidFill>
                  <a:srgbClr val="333333"/>
                </a:solidFill>
              </a:rPr>
              <a:t> Computational Complexity Analysis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286" name="Google Shape;286;g3ec519dd205_18_86"/>
          <p:cNvSpPr txBox="1"/>
          <p:nvPr/>
        </p:nvSpPr>
        <p:spPr>
          <a:xfrm>
            <a:off x="778200" y="2463425"/>
            <a:ext cx="11080200" cy="4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detection pipeline is split into four stages with distinct scaling behavior (N = events per slice, W×H = sensor size 320×320).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Tracker is O(N) — a single pass computes bounding box, centroid and per-sector counts; empirically ~9 ns/event (linear).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TTC is O(1) — a sliding window bounded to ~6–7 samples (60 ms / 10 ms); independent of event count.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is O(N + W×H) — the per-event 4-neighbor test is O(N), but rebuilding the 320×320 occupancy map every packet adds a fixed O(W×H) cost that dominates because packets are small.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Bottleneck: the occupancy-map clear (std::fill), not the events → main optimization target (timestamp-stamped map, no full clears).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g3ec519dd205_18_86"/>
          <p:cNvGraphicFramePr/>
          <p:nvPr/>
        </p:nvGraphicFramePr>
        <p:xfrm>
          <a:off x="778188" y="497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{A8AF7235-46AF-4CD6-BAFF-5DB01828A0C8}</a:tableStyleId>
              </a:tblPr>
              <a:tblGrid>
                <a:gridCol w="3842825"/>
                <a:gridCol w="3842825"/>
                <a:gridCol w="3842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Complexity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Empirical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Neighborhood Filter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+ W·H)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 rebuild dominates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 Slicer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 push, O(R) pop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R≈1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Obstacle Tracker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 ns/event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TTC Estimator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≤7 samples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c519dd205_18_92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g3ec519dd205_18_92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1525" y="155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ec519dd205_18_92"/>
          <p:cNvSpPr txBox="1"/>
          <p:nvPr/>
        </p:nvSpPr>
        <p:spPr>
          <a:xfrm>
            <a:off x="443200" y="12073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5. Performance Metrics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295" name="Google Shape;295;g3ec519dd205_18_92"/>
          <p:cNvSpPr txBox="1"/>
          <p:nvPr/>
        </p:nvSpPr>
        <p:spPr>
          <a:xfrm>
            <a:off x="435463" y="2402675"/>
            <a:ext cx="12562500" cy="3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Measures per-</a:t>
            </a:r>
            <a:r>
              <a:rPr lang="en-US"/>
              <a:t>stage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latency (mean / p99 / max), throughput, buffer peaks, filter efficiency, plus detection-quality metrics.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Benchmark: 7.14 M events, 320×320, 26.6 s of scene.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core cost per 10 ms slice: ~0.13 ms (1.3% of budget)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Slices over 10 ms deadline: 0% (p99 tracker+TTC = 104 µs)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rejection: 27.6% of events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 buffers: 9830 events (filter) / 7 samples (TTC)</a:t>
            </a:r>
            <a:endParaRPr sz="1550">
              <a:solidFill>
                <a:schemeClr val="dk1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g3ec519dd205_18_92"/>
          <p:cNvGraphicFramePr/>
          <p:nvPr/>
        </p:nvGraphicFramePr>
        <p:xfrm>
          <a:off x="952513" y="47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{A8AF7235-46AF-4CD6-BAFF-5DB01828A0C8}</a:tableStyleId>
              </a:tblPr>
              <a:tblGrid>
                <a:gridCol w="2882100"/>
                <a:gridCol w="2882100"/>
                <a:gridCol w="2882100"/>
                <a:gridCol w="2882100"/>
              </a:tblGrid>
              <a:tr h="391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highlight>
                            <a:srgbClr val="F8F8F8"/>
                          </a:highlight>
                        </a:rPr>
                        <a:t>Stage</a:t>
                      </a:r>
                      <a:endParaRPr b="1"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highlight>
                            <a:srgbClr val="F8F8F8"/>
                          </a:highlight>
                        </a:rPr>
                        <a:t>Mean </a:t>
                      </a:r>
                      <a:r>
                        <a:rPr b="1" lang="en-US" sz="105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[</a:t>
                      </a:r>
                      <a:r>
                        <a:rPr b="1" i="1" lang="en-US" sz="105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ps</a:t>
                      </a:r>
                      <a:r>
                        <a:rPr b="1" lang="en-US" sz="105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]</a:t>
                      </a:r>
                      <a:endParaRPr b="1"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highlight>
                            <a:srgbClr val="F8F8F8"/>
                          </a:highlight>
                        </a:rPr>
                        <a:t>p99 [</a:t>
                      </a:r>
                      <a:r>
                        <a:rPr b="1" i="1" lang="en-US" sz="1050">
                          <a:highlight>
                            <a:srgbClr val="F8F8F8"/>
                          </a:highlight>
                        </a:rPr>
                        <a:t>ps</a:t>
                      </a:r>
                      <a:r>
                        <a:rPr b="1" lang="en-US" sz="1050">
                          <a:highlight>
                            <a:srgbClr val="F8F8F8"/>
                          </a:highlight>
                        </a:rPr>
                        <a:t>]</a:t>
                      </a:r>
                      <a:endParaRPr b="1"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highlight>
                            <a:srgbClr val="F8F8F8"/>
                          </a:highlight>
                        </a:rPr>
                        <a:t>Max </a:t>
                      </a:r>
                      <a:r>
                        <a:rPr b="1" lang="en-US" sz="105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[</a:t>
                      </a:r>
                      <a:r>
                        <a:rPr b="1" i="1" lang="en-US" sz="105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ps</a:t>
                      </a:r>
                      <a:r>
                        <a:rPr b="1" lang="en-US" sz="105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]</a:t>
                      </a:r>
                      <a:endParaRPr b="1"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Filter (packet)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11.7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34.3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1618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Tracker (slice)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14.2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97.1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838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TTC (slice)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0.9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20.1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highlight>
                            <a:srgbClr val="F8F8F8"/>
                          </a:highlight>
                        </a:rPr>
                        <a:t>91</a:t>
                      </a:r>
                      <a:endParaRPr sz="1050">
                        <a:highlight>
                          <a:srgbClr val="F8F8F8"/>
                        </a:highlight>
                      </a:endParaRPr>
                    </a:p>
                  </a:txBody>
                  <a:tcPr marT="47625" marB="47625" marR="85725" marL="8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c519dd205_18_98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g3ec519dd205_18_98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ec519dd205_18_98"/>
          <p:cNvSpPr txBox="1"/>
          <p:nvPr/>
        </p:nvSpPr>
        <p:spPr>
          <a:xfrm>
            <a:off x="443200" y="12073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6. Comparison with reference Solutions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304" name="Google Shape;304;g3ec519dd205_18_98"/>
          <p:cNvSpPr txBox="1"/>
          <p:nvPr/>
        </p:nvSpPr>
        <p:spPr>
          <a:xfrm>
            <a:off x="443200" y="2038625"/>
            <a:ext cx="125454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 Maximization (CM):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Failed due to extreme computational load (100% CPU usage), resulting in &gt;110 ms latency and critical data stream desynchronization.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Neural Networks (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 34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Infeasible for real-time edge deployment on Raspberry Pi 5 without external accelerators due to excessive processing demands.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Bio-Inspired Pipeline: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Replaces global optimization with localized filtering and kinematics, maintaining a steady 100 Hz cadence.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operates with &lt;2% CPU load and sub-0.15 ms latency, providing a 76× real-time processing margin.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Achieved 0% packet loss and absolute reliability during high-rate event processing.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low-overhead architecture ensures substantial headroom for handling denser scenes and complex environments.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c519dd205_18_104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3ec519dd205_18_104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ec519dd205_18_104"/>
          <p:cNvSpPr txBox="1"/>
          <p:nvPr/>
        </p:nvSpPr>
        <p:spPr>
          <a:xfrm>
            <a:off x="499675" y="119597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7. Engineering Challenges &amp; Solutions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312" name="Google Shape;312;g3ec519dd205_18_104"/>
          <p:cNvSpPr txBox="1"/>
          <p:nvPr/>
        </p:nvSpPr>
        <p:spPr>
          <a:xfrm>
            <a:off x="499675" y="2332875"/>
            <a:ext cx="118497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Engineering Challenge</a:t>
            </a:r>
            <a:r>
              <a:rPr b="1" lang="en-US" sz="1550">
                <a:solidFill>
                  <a:schemeClr val="dk1"/>
                </a:solidFill>
                <a:highlight>
                  <a:srgbClr val="F8F8F8"/>
                </a:highlight>
              </a:rPr>
              <a:t> </a:t>
            </a:r>
            <a:endParaRPr b="1" sz="1550">
              <a:solidFill>
                <a:schemeClr val="dk1"/>
              </a:solidFill>
              <a:highlight>
                <a:srgbClr val="F8F8F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 UAVs demand low-latency processing on power-constrained edge platforms (Raspberry Pi 5) without external hardware acceleration. Conventional event-based frameworks (Contrast Maximization, dense DNNs, continuous-time SLAM) introduce massive computational loops, leading to CPU saturation, buffer overflows, and catastrophic data stream desynchronization. 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Architectural Solutions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replaced computationally expensive global time surfaces and iterative optimization matrices with localized, deterministic operations. Noise filtering is restricted to an O(N) 4-way spatial density check, while metric depth estimation is replaced by a lightweight O(1) kinematic bounding-box expansion tracker.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c519dd205_18_110"/>
          <p:cNvSpPr txBox="1"/>
          <p:nvPr/>
        </p:nvSpPr>
        <p:spPr>
          <a:xfrm>
            <a:off x="2468562" y="7018337"/>
            <a:ext cx="18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g3ec519dd205_18_110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0" y="0"/>
            <a:ext cx="13430400" cy="7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ec519dd205_18_110"/>
          <p:cNvSpPr txBox="1"/>
          <p:nvPr/>
        </p:nvSpPr>
        <p:spPr>
          <a:xfrm>
            <a:off x="443200" y="1207325"/>
            <a:ext cx="1056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-US" sz="4200">
                <a:solidFill>
                  <a:srgbClr val="333333"/>
                </a:solidFill>
              </a:rPr>
              <a:t>8. Conclusions &amp; Future Work</a:t>
            </a:r>
            <a:endParaRPr b="1" sz="4200">
              <a:solidFill>
                <a:srgbClr val="333333"/>
              </a:solidFill>
            </a:endParaRPr>
          </a:p>
        </p:txBody>
      </p:sp>
      <p:sp>
        <p:nvSpPr>
          <p:cNvPr id="320" name="Google Shape;320;g3ec519dd205_18_110"/>
          <p:cNvSpPr txBox="1"/>
          <p:nvPr/>
        </p:nvSpPr>
        <p:spPr>
          <a:xfrm>
            <a:off x="443200" y="2038625"/>
            <a:ext cx="6412500" cy="4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Achievements &amp; Results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developed a real-time, bio-inspired optical avoidance pipeline deployed on a resource-constrained Raspberry Pi 5 platform.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avoiding computationally intensive deep networks, the framework utilizes an efficient 4-way spatiotemporal filter and ARM NEON SIMD acceleration.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results confirm a minimal core latency of 0.13 ms per window, consuming under 1.3% of the real-time processing budget.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ec519dd205_18_110"/>
          <p:cNvSpPr txBox="1"/>
          <p:nvPr/>
        </p:nvSpPr>
        <p:spPr>
          <a:xfrm>
            <a:off x="6855700" y="2038625"/>
            <a:ext cx="6151500" cy="4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 will integrate continuous-time IMU sensor fusion to mathematically compensate for the drone's ego-motion.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plan to upgrade the tracking system to handle multi-obstacle clustering and compute independent Time-to-Collision vectors.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the C++ decision engine will be integrated with the PX4/ArduPilot flight controller via MAVLink for closed-loop flight validation.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Motyw pakietu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 Presentation - Default">
  <a:themeElements>
    <a:clrScheme name="Motyw pakietu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Maciek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